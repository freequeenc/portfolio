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ANW FOUNDATIONS // RESEARCH &amp; SYSTEMS ARCHITECTURE</a:t>
            </a:r>
          </a:p>
          <a:p>
            <a:pPr>
              <a:spcBef>
                <a:spcPts val="800"/>
              </a:spcBef>
              <a:defRPr sz="3200" b="1">
                <a:solidFill>
                  <a:srgbClr val="F0F4F8"/>
                </a:solidFill>
              </a:defRPr>
            </a:pPr>
            <a:r>
              <a:t>SPARC: Restoring the City of the Sun</a:t>
            </a:r>
          </a:p>
          <a:p>
            <a:pPr>
              <a:spcBef>
                <a:spcPts val="600"/>
              </a:spcBef>
              <a:defRPr sz="1400">
                <a:solidFill>
                  <a:srgbClr val="00E5FF"/>
                </a:solidFill>
              </a:defRPr>
            </a:pPr>
            <a:r>
              <a:t>Bi-State Coordinated Triage, Upstream IEP Modeling, and HUD FY2026 Data Coherence</a:t>
            </a:r>
          </a:p>
          <a:p>
            <a:pPr>
              <a:spcBef>
                <a:spcPts val="2800"/>
              </a:spcBef>
              <a:defRPr sz="1100">
                <a:solidFill>
                  <a:srgbClr val="94A3B8"/>
                </a:solidFill>
              </a:defRPr>
            </a:pPr>
            <a:r>
              <a:t>Ashleigh Walker | Lived Experience Researcher &amp; Dedicated Voluntary Systems Developer</a:t>
            </a:r>
            <a:br/>
            <a:r>
              <a:t>Belleville, IL &amp; St. Louis, MO | Contact: ashleigh4533@gmail.com</a:t>
            </a:r>
          </a:p>
        </p:txBody>
      </p:sp>
      <p:pic>
        <p:nvPicPr>
          <p:cNvPr id="3" name="Picture 2" descr="sparc_city_of_the_sun_bridge_1789790880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Lived Experience Fieldwork: Ground-Level Listening &amp; Direct Data Capture</a:t>
            </a:r>
          </a:p>
        </p:txBody>
      </p:sp>
      <p:pic>
        <p:nvPicPr>
          <p:cNvPr id="3" name="Picture 2" descr="ash_fieldwork_luminous_listening_17897915029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1. Centering Ground Truth</a:t>
            </a:r>
          </a:p>
          <a:p>
            <a:pPr>
              <a:spcBef>
                <a:spcPts val="200"/>
              </a:spcBef>
              <a:defRPr sz="1100">
                <a:solidFill>
                  <a:srgbClr val="F0F4F8"/>
                </a:solidFill>
              </a:defRPr>
            </a:pPr>
            <a:r>
              <a:t>Traditional administrative systems view homelessness from behind a 9-to-5 desk. Real system healing begins at picnic tables, encampments, and transit stops where lived truth is shared openly.</a:t>
            </a:r>
          </a:p>
          <a:p>
            <a:pPr>
              <a:spcBef>
                <a:spcPts val="1200"/>
              </a:spcBef>
              <a:defRPr sz="1300" b="1">
                <a:solidFill>
                  <a:srgbClr val="D4AF37"/>
                </a:solidFill>
              </a:defRPr>
            </a:pPr>
            <a:r>
              <a:t>2. The 3-Minute Mobile Intake</a:t>
            </a:r>
          </a:p>
          <a:p>
            <a:pPr>
              <a:spcBef>
                <a:spcPts val="200"/>
              </a:spcBef>
              <a:defRPr sz="1100">
                <a:solidFill>
                  <a:srgbClr val="F0F4F8"/>
                </a:solidFill>
              </a:defRPr>
            </a:pPr>
            <a:r>
              <a:t>Replacing 45-minute bureaucratic forms with rapid, dignified mobile assessment. Capturing all 23 Universal Data Elements at point of encounter to eliminate data latency entirely.</a:t>
            </a:r>
          </a:p>
          <a:p>
            <a:pPr>
              <a:spcBef>
                <a:spcPts val="1200"/>
              </a:spcBef>
              <a:defRPr sz="1300" b="1">
                <a:solidFill>
                  <a:srgbClr val="D4AF37"/>
                </a:solidFill>
              </a:defRPr>
            </a:pPr>
            <a:r>
              <a:t>3. Zero Preconditions Policy</a:t>
            </a:r>
          </a:p>
          <a:p>
            <a:pPr>
              <a:spcBef>
                <a:spcPts val="200"/>
              </a:spcBef>
              <a:defRPr sz="1100">
                <a:solidFill>
                  <a:srgbClr val="F0F4F8"/>
                </a:solidFill>
              </a:defRPr>
            </a:pPr>
            <a:r>
              <a:t>Sobriety tests, background checks, and compliance hoops do not heal trauma. SPARC calculates pure vulnerability and routes directly to housing with zero barriers.</a:t>
            </a:r>
          </a:p>
          <a:p>
            <a:pPr>
              <a:spcBef>
                <a:spcPts val="1200"/>
              </a:spcBef>
              <a:defRPr sz="1300" b="1">
                <a:solidFill>
                  <a:srgbClr val="D4AF37"/>
                </a:solidFill>
              </a:defRPr>
            </a:pPr>
            <a:r>
              <a:t>4. Building with the Community</a:t>
            </a:r>
          </a:p>
          <a:p>
            <a:pPr>
              <a:spcBef>
                <a:spcPts val="200"/>
              </a:spcBef>
              <a:defRPr sz="1100">
                <a:solidFill>
                  <a:srgbClr val="F0F4F8"/>
                </a:solidFill>
              </a:defRPr>
            </a:pPr>
            <a:r>
              <a:t>Our unhoused peers are not case files to manage; they are the primary research partners whose insights shape the software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The City of the Sun: Bridging St. Louis &amp; Cahokia Across the Mississippi</a:t>
            </a:r>
          </a:p>
        </p:txBody>
      </p:sp>
      <p:pic>
        <p:nvPicPr>
          <p:cNvPr id="3" name="Picture 2" descr="sparc_city_of_the_sun_bridge_1789790880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The Mississippi River as a Harmonic Axis</a:t>
            </a:r>
          </a:p>
          <a:p>
            <a:pPr>
              <a:spcBef>
                <a:spcPts val="400"/>
              </a:spcBef>
              <a:defRPr sz="1100">
                <a:solidFill>
                  <a:srgbClr val="F0F4F8"/>
                </a:solidFill>
              </a:defRPr>
            </a:pPr>
            <a:r>
              <a:t>The river is not a political barrier between Missouri and Illinois; it is the central meridian of our regional ecosystem. People seeking shelter move constantly between St. Louis City (MO-501), St. Louis County (MO-500), and St. Clair County (IL-502).</a:t>
            </a:r>
          </a:p>
          <a:p>
            <a:pPr>
              <a:spcBef>
                <a:spcPts val="1400"/>
              </a:spcBef>
              <a:defRPr sz="1400" b="1">
                <a:solidFill>
                  <a:srgbClr val="00E5FF"/>
                </a:solidFill>
              </a:defRPr>
            </a:pPr>
            <a:r>
              <a:t>Ancient Solar Geometry Meets Modern Transit</a:t>
            </a:r>
          </a:p>
          <a:p>
            <a:pPr>
              <a:spcBef>
                <a:spcPts val="400"/>
              </a:spcBef>
              <a:defRPr sz="1100">
                <a:solidFill>
                  <a:srgbClr val="F0F4F8"/>
                </a:solidFill>
              </a:defRPr>
            </a:pPr>
            <a:r>
              <a:t>Directly across from the St. Louis Gateway Arch sits Cahokia Mounds, the ancient Mississippian City of the Sun. By aligning our data infrastructure with cross-jurisdictional transit corridors, SPARC restores systemic coherence across the entire metro bi-state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The IEP to Homelessness Pipeline: Structural Fracture &amp; Upstream Renewal</a:t>
            </a:r>
          </a:p>
        </p:txBody>
      </p:sp>
      <p:pic>
        <p:nvPicPr>
          <p:cNvPr id="3" name="Picture 2" descr="iep_pipeline_architecture_of_renewal_17897915116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The Childhood Scaffolding (Ages 5-17)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Students with Individualized Education Programs (IEPs) receive structured developmental, emotional, and learning supports throughout K-12 schooling.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The Age 18 Service Cliff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Upon graduation or aging out at 18, all institutional scaffolding vanishes overnight. There is no transitional bridge into adult housing or self-sufficiency.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The 75% Chronic Finding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Field research reveals that approximately 75% of adults experiencing chronic unsheltered homelessness in our region had an active IEP during childhood.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SPARC Upstream Interception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SPARC is the first system in the nation to track IEP history and developmental service cliffs in its core database schema, enabling upstream diversion before crisis.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Bi-State Coordinated Flow: Stella P System Performance Vectors</a:t>
            </a:r>
          </a:p>
        </p:txBody>
      </p:sp>
      <p:pic>
        <p:nvPicPr>
          <p:cNvPr id="3" name="Picture 2" descr="bistate_sparc_system_modeling_infographic_17897881427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Cross-River Transit Coordination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Integrating Metrolink and bus corridor transit data directly into shelter bed vacancy matching across MO-501, MO-500, and IL-502.</a:t>
            </a:r>
          </a:p>
          <a:p>
            <a:pPr>
              <a:spcBef>
                <a:spcPts val="1000"/>
              </a:spcBef>
              <a:defRPr sz="1200" b="1">
                <a:solidFill>
                  <a:srgbClr val="00E5FF"/>
                </a:solidFill>
              </a:defRPr>
            </a:pPr>
            <a:r>
              <a:t>Length of Stay Reduction (Days)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Stella P Core Vector 1: Rapid routing cuts average emergency shelter duration from 68 days down to under 21 days.</a:t>
            </a:r>
          </a:p>
          <a:p>
            <a:pPr>
              <a:spcBef>
                <a:spcPts val="1000"/>
              </a:spcBef>
              <a:defRPr sz="1200" b="1">
                <a:solidFill>
                  <a:srgbClr val="00E5FF"/>
                </a:solidFill>
              </a:defRPr>
            </a:pPr>
            <a:r>
              <a:t>Exit Velocity to Permanent Housing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Stella P Core Vector 2: Direct connection to Permanent Supportive Housing (PSH) and Rapid Rehousing (RRH) without intermediate holding patterns.</a:t>
            </a:r>
          </a:p>
          <a:p>
            <a:pPr>
              <a:spcBef>
                <a:spcPts val="1000"/>
              </a:spcBef>
              <a:defRPr sz="1200" b="1">
                <a:solidFill>
                  <a:srgbClr val="00E5FF"/>
                </a:solidFill>
              </a:defRPr>
            </a:pPr>
            <a:r>
              <a:t>Return Rate Stabilization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Stella P Core Vector 3: Tracking move-in stability and community anchor supports to keep 2-year recidivism below 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2026 CoC NOFO Transformation: Protecting Regional Funding</a:t>
            </a:r>
          </a:p>
        </p:txBody>
      </p:sp>
      <p:pic>
        <p:nvPicPr>
          <p:cNvPr id="3" name="Picture 2" descr="mo501_funding_at_risk_chart_17897836977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The 40% Merit Competition Shift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HUD has officially ended the era of 95% automatic grant renewals. 40% of all CoC awards are now strictly competitive based on documented performance data.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$10.1M Exposed in MO-501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Over $10M of St. Louis City's $16.89M annual allocation is now vulnerable if the CoC cannot produce rigorous Stella P performance metrics.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$1.3B Transitional Set-Aside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HUD has created a massive $1.3B national pool for Transitional Housing paired with behavioral healthcare, substance recovery, and job training.</a:t>
            </a:r>
          </a:p>
          <a:p>
            <a:pPr>
              <a:spcBef>
                <a:spcPts val="1000"/>
              </a:spcBef>
              <a:defRPr sz="1200" b="1">
                <a:solidFill>
                  <a:srgbClr val="D4AF37"/>
                </a:solidFill>
              </a:defRPr>
            </a:pPr>
            <a:r>
              <a:t>How SPARC Protects Regional Awards</a:t>
            </a:r>
          </a:p>
          <a:p>
            <a:pPr>
              <a:spcBef>
                <a:spcPts val="200"/>
              </a:spcBef>
              <a:defRPr sz="1050">
                <a:solidFill>
                  <a:srgbClr val="F0F4F8"/>
                </a:solidFill>
              </a:defRPr>
            </a:pPr>
            <a:r>
              <a:t>SPARC generates the exact LSA-compliant data streams required to maximize scoring on HUD Question 7.3 and secure maximum merit allocations.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Technical Architecture: 23-Table HMIS Export Engine (Eva Validated)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HUD FY2026 Interoperability Specifications</a:t>
            </a:r>
          </a:p>
          <a:p>
            <a:pPr>
              <a:spcBef>
                <a:spcPts val="400"/>
              </a:spcBef>
              <a:defRPr sz="1100">
                <a:solidFill>
                  <a:srgbClr val="F0F4F8"/>
                </a:solidFill>
              </a:defRPr>
            </a:pPr>
            <a:r>
              <a:t>SPARC features a native Python export engine that transforms live database records into the complete 23-table HUD HMIS CSV standard, packaged into a single ZIP archive ready for validation on Abt Associates' Eva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Core System Metadata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Export.csv (Metadata)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Organization.csv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Project.csv (PDDE 2.02)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User.csv (System Users)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HMISParticipation.csv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CEParticipation.csv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ProjectCoC.csv (PDDE 2.03)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Funder.csv (PDDE 2.06)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56032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Client &amp; Enrollment Layer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Client.csv (Demographics)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Enrollment.csv (3.10/3.917)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Exit.csv (3.11/3.12)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Inventory.csv (PDDE 2.07)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IncomeBenefits.csv (4.02)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HealthAndDV.csv (4.03/4.11)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Disabilities.csv (4.05)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EmploymentEducation.csv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56032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Coordinated Entry &amp; Services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Assessment.csv (4.19 CE)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AssessmentQuestions.csv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AssessmentResults.csv (AVS)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Event.csv (4.20 CE Events)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Services.csv (4.14)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CurrentLivingSituation.csv</a:t>
            </a:r>
          </a:p>
          <a:p>
            <a:pPr>
              <a:spcBef>
                <a:spcPts val="300"/>
              </a:spcBef>
              <a:defRPr sz="1000">
                <a:solidFill>
                  <a:srgbClr val="F0F4F8"/>
                </a:solidFill>
              </a:defRPr>
            </a:pPr>
            <a:r>
              <a:t>- YouthEducationStatus.csv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SPARC // BI-STATE SYSTEMS RESEARCH</a:t>
            </a:r>
          </a:p>
          <a:p>
            <a:pPr>
              <a:spcBef>
                <a:spcPts val="300"/>
              </a:spcBef>
              <a:defRPr sz="2200" b="1">
                <a:solidFill>
                  <a:srgbClr val="F0F4F8"/>
                </a:solidFill>
              </a:defRPr>
            </a:pPr>
            <a:r>
              <a:t>The Path Forward: Open-Source Collaboration &amp; Systemic 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Voluntary Technical Support</a:t>
            </a:r>
          </a:p>
          <a:p>
            <a:pPr>
              <a:spcBef>
                <a:spcPts val="300"/>
              </a:spcBef>
              <a:defRPr sz="1150">
                <a:solidFill>
                  <a:srgbClr val="F0F4F8"/>
                </a:solidFill>
              </a:defRPr>
            </a:pPr>
            <a:r>
              <a:t>ANW Foundations provides open-source, non-proprietary tools designed to empower existing CoC staff, case managers, and street outreach teams without administrative overhead.</a:t>
            </a:r>
          </a:p>
          <a:p>
            <a:pPr>
              <a:spcBef>
                <a:spcPts val="1400"/>
              </a:spcBef>
              <a:defRPr sz="1400" b="1">
                <a:solidFill>
                  <a:srgbClr val="D4AF37"/>
                </a:solidFill>
              </a:defRPr>
            </a:pPr>
            <a:r>
              <a:t>Complementing Established HMIS Leads</a:t>
            </a:r>
          </a:p>
          <a:p>
            <a:pPr>
              <a:spcBef>
                <a:spcPts val="300"/>
              </a:spcBef>
              <a:defRPr sz="1150">
                <a:solidFill>
                  <a:srgbClr val="F0F4F8"/>
                </a:solidFill>
              </a:defRPr>
            </a:pPr>
            <a:r>
              <a:t>SPARC does not replace ICA or vendor contracts. It operates as an agile mobile field layer that feeds clean, timeliness-perfect data directly into existing systems.</a:t>
            </a:r>
          </a:p>
          <a:p>
            <a:pPr>
              <a:spcBef>
                <a:spcPts val="1400"/>
              </a:spcBef>
              <a:defRPr sz="1400" b="1">
                <a:solidFill>
                  <a:srgbClr val="D4AF37"/>
                </a:solidFill>
              </a:defRPr>
            </a:pPr>
            <a:r>
              <a:t>Regional CoC Empowerment</a:t>
            </a:r>
          </a:p>
          <a:p>
            <a:pPr>
              <a:spcBef>
                <a:spcPts val="300"/>
              </a:spcBef>
              <a:defRPr sz="1150">
                <a:solidFill>
                  <a:srgbClr val="F0F4F8"/>
                </a:solidFill>
              </a:defRPr>
            </a:pPr>
            <a:r>
              <a:t>Supporting St. Louis City (MO-501), St. Louis County (MO-500), and St. Clair County (IL-502) to build a unified bi-state response that protects federal awards and restores human dignity.</a:t>
            </a:r>
          </a:p>
          <a:p>
            <a:pPr>
              <a:spcBef>
                <a:spcPts val="1400"/>
              </a:spcBef>
              <a:defRPr sz="1400" b="1">
                <a:solidFill>
                  <a:srgbClr val="D4AF37"/>
                </a:solidFill>
              </a:defRPr>
            </a:pPr>
            <a:r>
              <a:t>Get in Touch</a:t>
            </a:r>
          </a:p>
          <a:p>
            <a:pPr>
              <a:spcBef>
                <a:spcPts val="300"/>
              </a:spcBef>
              <a:defRPr sz="1150">
                <a:solidFill>
                  <a:srgbClr val="F0F4F8"/>
                </a:solidFill>
              </a:defRPr>
            </a:pPr>
            <a:r>
              <a:t>Ashleigh Walker | Lived Experience Researcher &amp; Dedicated Voluntary Systems Developer</a:t>
            </a:r>
            <a:br/>
            <a:r>
              <a:t>Email: ashleigh4533@gmail.com | Belleville, IL &amp; St. Louis, 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