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59E0B"/>
                </a:solidFill>
              </a:defRPr>
            </a:pPr>
            <a:r>
              <a:t>ANW FOUNDATIONS | RESEARCH &amp; SYSTEMS HEALING</a:t>
            </a:r>
          </a:p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</a:defRPr>
            </a:pPr>
            <a:r>
              <a:t>SPARC: Coordinated Triage &amp; System Healing</a:t>
            </a:r>
          </a:p>
          <a:p>
            <a:pPr>
              <a:spcAft>
                <a:spcPts val="3200"/>
              </a:spcAft>
              <a:defRPr sz="1800">
                <a:solidFill>
                  <a:srgbClr val="38BDF8"/>
                </a:solidFill>
              </a:defRPr>
            </a:pPr>
            <a:r>
              <a:t>Bridging Lived Experience Fieldwork with HUD's 2026 Merit-Based Funding Architecture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Ashleigh Walker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Lived Experience Researcher &amp; Dedicated Voluntary Systems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4B8A6"/>
                </a:solidFill>
              </a:defRPr>
            </a:pPr>
            <a:r>
              <a:t>EMPIRICAL FOUNDATION</a:t>
            </a:r>
          </a:p>
          <a:p>
            <a:pPr>
              <a:defRPr sz="2500" b="1">
                <a:solidFill>
                  <a:srgbClr val="F8FAFC"/>
                </a:solidFill>
              </a:defRPr>
            </a:pPr>
            <a:r>
              <a:t>Research Grounded in Real Encampments</a:t>
            </a:r>
          </a:p>
        </p:txBody>
      </p:sp>
      <p:pic>
        <p:nvPicPr>
          <p:cNvPr id="4" name="Picture 3" descr="ash_plee_fieldwork_17897730628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500">
                <a:solidFill>
                  <a:srgbClr val="F59E0B"/>
                </a:solidFill>
              </a:defRPr>
            </a:pPr>
            <a:r>
              <a:t>The Street Reality: 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Traditional CoC policies are designed in air-conditioned conference rooms. Real triage happens in the woods, along railroad tracks, and in makeshift camps.</a:t>
            </a:r>
          </a:p>
          <a:p>
            <a:pPr>
              <a:spcAft>
                <a:spcPts val="200"/>
              </a:spcAft>
              <a:defRPr b="1" sz="1500">
                <a:solidFill>
                  <a:srgbClr val="F59E0B"/>
                </a:solidFill>
              </a:defRPr>
            </a:pPr>
            <a:r>
              <a:t>Lived Experience Authority: 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Personal navigation through two years of homelessness in St. Louis and recent displacement in Belleville informed every line of code.</a:t>
            </a:r>
          </a:p>
          <a:p>
            <a:pPr>
              <a:spcAft>
                <a:spcPts val="200"/>
              </a:spcAft>
              <a:defRPr b="1" sz="1500">
                <a:solidFill>
                  <a:srgbClr val="F59E0B"/>
                </a:solidFill>
              </a:defRPr>
            </a:pPr>
            <a:r>
              <a:t>Documenting the Gaps: 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Observational fieldwork reveals the exact failure points where public policies collapse into street trauma.</a:t>
            </a:r>
          </a:p>
          <a:p>
            <a:pPr>
              <a:spcAft>
                <a:spcPts val="200"/>
              </a:spcAft>
              <a:defRPr b="1" sz="1500">
                <a:solidFill>
                  <a:srgbClr val="F59E0B"/>
                </a:solidFill>
              </a:defRPr>
            </a:pPr>
            <a:r>
              <a:t>Dignity of Community: 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Unsheltered people are not 'service resistant.' They are surviving an adversarial bureaucracy that expects neurotypical perfection without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4B8A6"/>
                </a:solidFill>
              </a:defRPr>
            </a:pPr>
            <a:r>
              <a:t>LIVED REALITIES</a:t>
            </a:r>
          </a:p>
          <a:p>
            <a:pPr>
              <a:defRPr sz="2500" b="1">
                <a:solidFill>
                  <a:srgbClr val="F8FAFC"/>
                </a:solidFill>
              </a:defRPr>
            </a:pPr>
            <a:r>
              <a:t>The Roadblocks to Dignity: Surviving the Spiral</a:t>
            </a:r>
          </a:p>
        </p:txBody>
      </p:sp>
      <p:pic>
        <p:nvPicPr>
          <p:cNvPr id="4" name="Picture 3" descr="roadblocks_to_dignity_17897791901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F43F5E"/>
                </a:solidFill>
              </a:defRPr>
            </a:pPr>
            <a:r>
              <a:t>Ruined Identification Documents: 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Birth certificates and IDs get waterlogged in the rain or stolen from encampments. Without physical ID, shelters and housing programs turn people away at the door.</a:t>
            </a:r>
          </a:p>
          <a:p>
            <a:pPr>
              <a:spcAft>
                <a:spcPts val="200"/>
              </a:spcAft>
              <a:defRPr b="1" sz="1400">
                <a:solidFill>
                  <a:srgbClr val="F43F5E"/>
                </a:solidFill>
              </a:defRPr>
            </a:pPr>
            <a:r>
              <a:t>Criminalization of Basic Survival: 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Seeking warmth in an abandoned building leads to trespassing charges. A criminal record then instantly disqualifies individuals from subsidized housing vouchers.</a:t>
            </a:r>
          </a:p>
          <a:p>
            <a:pPr>
              <a:spcAft>
                <a:spcPts val="200"/>
              </a:spcAft>
              <a:defRPr b="1" sz="1400">
                <a:solidFill>
                  <a:srgbClr val="F43F5E"/>
                </a:solidFill>
              </a:defRPr>
            </a:pPr>
            <a:r>
              <a:t>Social Exclusion &amp; Appearance Profiling: 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Trying to stay presentable while living out of suitcases is an exhausting battle. Individuals get turned away from restrooms, businesses, and transit simply for 'looking homeless.'</a:t>
            </a:r>
          </a:p>
          <a:p>
            <a:pPr>
              <a:spcAft>
                <a:spcPts val="200"/>
              </a:spcAft>
              <a:defRPr b="1" sz="1400">
                <a:solidFill>
                  <a:srgbClr val="F43F5E"/>
                </a:solidFill>
              </a:defRPr>
            </a:pPr>
            <a:r>
              <a:t>The Desperation Trap: 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When every legal avenue to food, warmth, and shelter is blocked by bureaucracy, individuals are pushed into illegal or dangerous survival options just to make it through the night.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4B8A6"/>
                </a:solidFill>
              </a:defRPr>
            </a:pPr>
            <a:r>
              <a:t>INSTITUTIONAL BARRIERS</a:t>
            </a:r>
          </a:p>
          <a:p>
            <a:pPr>
              <a:defRPr sz="2500" b="1">
                <a:solidFill>
                  <a:srgbClr val="F8FAFC"/>
                </a:solidFill>
              </a:defRPr>
            </a:pPr>
            <a:r>
              <a:t>The Bureaucratic Wall: When Aid Lines Don't Answer</a:t>
            </a:r>
          </a:p>
        </p:txBody>
      </p:sp>
      <p:pic>
        <p:nvPicPr>
          <p:cNvPr id="4" name="Picture 3" descr="bureaucratic_aid_wall_17897791979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38BDF8"/>
                </a:solidFill>
              </a:defRPr>
            </a:pPr>
            <a:r>
              <a:t>The Endless Hold Tone: 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Assistance hotlines (2-1-1, Coordinated Entry queues) frequently leave callers on hold until prepaid minutes expire or calls disconnect without resolution.</a:t>
            </a:r>
          </a:p>
          <a:p>
            <a:pPr>
              <a:spcAft>
                <a:spcPts val="200"/>
              </a:spcAft>
              <a:defRPr b="1" sz="1400">
                <a:solidFill>
                  <a:srgbClr val="38BDF8"/>
                </a:solidFill>
              </a:defRPr>
            </a:pPr>
            <a:r>
              <a:t>Hostile Intake Encounters: 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When someone finally reaches an intake worker, they are often met with cold exhaustion and impatience, treated as a case number rather than a human in crisis.</a:t>
            </a:r>
          </a:p>
          <a:p>
            <a:pPr>
              <a:spcAft>
                <a:spcPts val="200"/>
              </a:spcAft>
              <a:defRPr b="1" sz="1400">
                <a:solidFill>
                  <a:srgbClr val="38BDF8"/>
                </a:solidFill>
              </a:defRPr>
            </a:pPr>
            <a:r>
              <a:t>The Unreasonable Knowledge Expectation: 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Intake workers expect people in acute survival mode to already know complex program jargon (ESG, PSH, rapid rehousing, prioritization criteria) before receiving guidance.</a:t>
            </a:r>
          </a:p>
          <a:p>
            <a:pPr>
              <a:spcAft>
                <a:spcPts val="200"/>
              </a:spcAft>
              <a:defRPr b="1" sz="1400">
                <a:solidFill>
                  <a:srgbClr val="38BDF8"/>
                </a:solidFill>
              </a:defRPr>
            </a:pPr>
            <a:r>
              <a:t>SPARC's Human-Centered Antidote: 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SPARC eliminates multi-page phone hurdles by enabling field navigators to conduct 3-minute plain-language intake on mobile devices directly in encampments.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4B8A6"/>
                </a:solidFill>
              </a:defRPr>
            </a:pPr>
            <a:r>
              <a:t>ECONOMIC EXPLOITATION</a:t>
            </a:r>
          </a:p>
          <a:p>
            <a:pPr>
              <a:defRPr sz="2500" b="1">
                <a:solidFill>
                  <a:srgbClr val="F8FAFC"/>
                </a:solidFill>
              </a:defRPr>
            </a:pPr>
            <a:r>
              <a:t>The Shadow Economy: Underpaid Labor &amp; Slumlord Traps</a:t>
            </a:r>
          </a:p>
        </p:txBody>
      </p:sp>
      <p:pic>
        <p:nvPicPr>
          <p:cNvPr id="4" name="Picture 3" descr="hidden_informal_labor_17897792064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F59E0B"/>
                </a:solidFill>
              </a:defRPr>
            </a:pPr>
            <a:r>
              <a:t>Off-the-Books Labor Exploitation: 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Predatory landlords and business owners use unhoused workers for grueling demolition, construction, and cleanup, paying pennies on the dollar under the table.</a:t>
            </a:r>
          </a:p>
          <a:p>
            <a:pPr>
              <a:spcAft>
                <a:spcPts val="200"/>
              </a:spcAft>
              <a:defRPr b="1" sz="1400">
                <a:solidFill>
                  <a:srgbClr val="F59E0B"/>
                </a:solidFill>
              </a:defRPr>
            </a:pPr>
            <a:r>
              <a:t>Conditional 'Shelter' Leverage: 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Workers are coerced into dangerous, unregulated labor under the threat of having their makeshift shelter or storage corner revoked at a moment's notice.</a:t>
            </a:r>
          </a:p>
          <a:p>
            <a:pPr>
              <a:spcAft>
                <a:spcPts val="200"/>
              </a:spcAft>
              <a:defRPr b="1" sz="1400">
                <a:solidFill>
                  <a:srgbClr val="F59E0B"/>
                </a:solidFill>
              </a:defRPr>
            </a:pPr>
            <a:r>
              <a:t>No Legal Recourse: 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Without a permanent address or formal contract, unhoused workers cannot report wage theft, code violations, or abusive treatment to labor boards.</a:t>
            </a:r>
          </a:p>
          <a:p>
            <a:pPr>
              <a:spcAft>
                <a:spcPts val="200"/>
              </a:spcAft>
              <a:defRPr b="1" sz="1400">
                <a:solidFill>
                  <a:srgbClr val="F59E0B"/>
                </a:solidFill>
              </a:defRPr>
            </a:pPr>
            <a:r>
              <a:t>Breaking the Exploitation Loop: 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By pairing housing allocation with legitimate CSBG/ESG workforce pathways, SPARC transitions workers from predatory informal labor into legal, dignified self-sufficiency.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4B8A6"/>
                </a:solidFill>
              </a:defRPr>
            </a:pPr>
            <a:r>
              <a:t>SYSTEMIC DISCOVERY</a:t>
            </a:r>
          </a:p>
          <a:p>
            <a:pPr>
              <a:defRPr sz="2500" b="1">
                <a:solidFill>
                  <a:srgbClr val="F8FAFC"/>
                </a:solidFill>
              </a:defRPr>
            </a:pPr>
            <a:r>
              <a:t>The Missing Root Cause: The IEP-to-Homelessness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</a:defRPr>
            </a:pPr>
            <a:r>
              <a:t>The School-to-Street Reality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- A major percentage of unhoused adults were once children on an Individualized Education Program (IEP).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- At age 18 to 21, students hit the transition cliff: structured educational accommodations terminate abruptly.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- Adult disability systems are hyper-adversarial, requiring immense executive functioning to navigate.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- When cognitive accommodations vanish, individuals crash directly into couch-surfing and homelessness.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</a:defRPr>
            </a:pPr>
            <a:r>
              <a:t>How SPARC Solves the Blind Spot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- First system in the nation with native fields for had_childhood_iep and experienced_service_cliff_at_18.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- Eliminates false 'service resistance' labels by identifying unaccommodated neurodivergence and sensory overload.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- Proactively triggers plain-language paperwork, peer navigators, and low-barrier transitional environments.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- Directly qualifies local projects for HUD's $1.3B Root Causes and Behavioral Health funding pools.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4B8A6"/>
                </a:solidFill>
              </a:defRPr>
            </a:pPr>
            <a:r>
              <a:t>FEDERAL POLICY TRANSFORMATION</a:t>
            </a:r>
          </a:p>
          <a:p>
            <a:pPr>
              <a:defRPr sz="2500" b="1">
                <a:solidFill>
                  <a:srgbClr val="F8FAFC"/>
                </a:solidFill>
              </a:defRPr>
            </a:pPr>
            <a:r>
              <a:t>The 2026 CoC NOFO: End of the Status Quo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B8A6"/>
                </a:solidFill>
              </a:defRPr>
            </a:pPr>
            <a:r>
              <a:t>$4.04 Billion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Historic Funding Pool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Highest funding in program history, shifting from automatic renewal to competitive merit.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59E0B"/>
                </a:solidFill>
              </a:defRPr>
            </a:pPr>
            <a:r>
              <a:t>40% Competitive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Merit-Based Awards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Ending the 90-95% automatic renewal regime. CoCs must now compete on verifiable outcomes.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38BDF8"/>
                </a:solidFill>
              </a:defRPr>
            </a:pPr>
            <a:r>
              <a:t>$1.3 Billion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Transitional Housing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Set aside specifically for new projects prioritizing recovery, behavioral health, and job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4B8A6"/>
                </a:solidFill>
              </a:defRPr>
            </a:pPr>
            <a:r>
              <a:t>REGIONAL IMPACT</a:t>
            </a:r>
          </a:p>
          <a:p>
            <a:pPr>
              <a:defRPr sz="2500" b="1">
                <a:solidFill>
                  <a:srgbClr val="F8FAFC"/>
                </a:solidFill>
              </a:defRPr>
            </a:pPr>
            <a:r>
              <a:t>Missouri Continuums of Care Under New Federal Scrutiny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59E0B"/>
                </a:solidFill>
              </a:defRPr>
            </a:pPr>
            <a:r>
              <a:t>MO-501 (St. Louis City): $16.89M at Stake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Historically, millions were awarded almost entirely in automatic PSH renewals (Depaul USA, DOORWAYS, Gateway 180). Under the new 40% competitive rule, millions in annual renewals are exposed to performance ranking.</a:t>
            </a:r>
          </a:p>
          <a:p>
            <a:pPr>
              <a:spcAft>
                <a:spcPts val="200"/>
              </a:spcAft>
              <a:defRPr sz="1500" b="1">
                <a:solidFill>
                  <a:srgbClr val="F59E0B"/>
                </a:solidFill>
              </a:defRPr>
            </a:pPr>
            <a:r>
              <a:t>MO-500 (St. Louis County) &amp; Balance of State (MO-604)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County programs reliant on legacy Shelter Plus Care contracts must demonstrate active transition pipelines and recovery coordination.</a:t>
            </a:r>
          </a:p>
          <a:p>
            <a:pPr>
              <a:spcAft>
                <a:spcPts val="200"/>
              </a:spcAft>
              <a:defRPr sz="1500" b="1">
                <a:solidFill>
                  <a:srgbClr val="F59E0B"/>
                </a:solidFill>
              </a:defRPr>
            </a:pPr>
            <a:r>
              <a:t>The Immediate Challenge for Missouri Leadership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Without modernized Coordinated Entry that models transitional pathways and outcome tracking, Missouri CoCs risk losing millions to competing states.</a:t>
            </a:r>
          </a:p>
          <a:p>
            <a:pPr>
              <a:spcAft>
                <a:spcPts val="200"/>
              </a:spcAft>
              <a:defRPr sz="1500" b="1">
                <a:solidFill>
                  <a:srgbClr val="F59E0B"/>
                </a:solidFill>
              </a:defRPr>
            </a:pPr>
            <a:r>
              <a:t>The Strategic Opportunity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Deploying SPARC gives Missouri CoCs the exact data engine needed to win the 2026 NOFO competitive scoring without disrupting existing HMIS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4B8A6"/>
                </a:solidFill>
              </a:defRPr>
            </a:pPr>
            <a:r>
              <a:t>TECHNICAL ARCHITECTURE</a:t>
            </a:r>
          </a:p>
          <a:p>
            <a:pPr>
              <a:defRPr sz="2500" b="1">
                <a:solidFill>
                  <a:srgbClr val="F8FAFC"/>
                </a:solidFill>
              </a:defRPr>
            </a:pPr>
            <a:r>
              <a:t>SPARC: Real-Time Algorithmic Coordinated Entry</a:t>
            </a:r>
          </a:p>
        </p:txBody>
      </p:sp>
      <p:pic>
        <p:nvPicPr>
          <p:cNvPr id="4" name="Picture 3" descr="sparc_vision_command_center_17897719909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</a:defRPr>
            </a:pPr>
            <a:r>
              <a:t>Absolute Vulnerability Score (AVS)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Calculates real-time mortality and crisis risk, re-ranking community priority queues dynamically rather than waiting weeks for manual case conferences.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</a:defRPr>
            </a:pPr>
            <a:r>
              <a:t>Automated Bed &amp; Unit Matching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Tracks real-time inventory across Emergency Shelter, Transitional Housing, and PSH with zero precondition barriers.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</a:defRPr>
            </a:pPr>
            <a:r>
              <a:t>Zero-Knowledge Hashing Engine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Fully abstracts client identity via anonymized_id, providing complete HIPAA and VAWA isolation for domestic violence providers.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</a:defRPr>
            </a:pPr>
            <a:r>
              <a:t>Full HUD FY 2026 Compliance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Native data columns for HMIS Universal Elements (3.01-3.20), Project Descriptors (PDDE 2.0x), and CE Events (4.19-4.20).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4B8A6"/>
                </a:solidFill>
              </a:defRPr>
            </a:pPr>
            <a:r>
              <a:t>SYSTEM MODELING &amp; REPORTING</a:t>
            </a:r>
          </a:p>
          <a:p>
            <a:pPr>
              <a:defRPr sz="2500" b="1">
                <a:solidFill>
                  <a:srgbClr val="F8FAFC"/>
                </a:solidFill>
              </a:defRPr>
            </a:pPr>
            <a:r>
              <a:t>Closing the Loop: Real-Time Triage to Stella P Modeling</a:t>
            </a:r>
          </a:p>
        </p:txBody>
      </p:sp>
      <p:pic>
        <p:nvPicPr>
          <p:cNvPr id="4" name="Picture 3" descr="sparc_vision_data_flow_17897720089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Automated LSA Generation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SPARC continuously structures data so local CoCs can export pristine Longitudinal Systems Analysis (LSA) files ready for HDX 2.0.</a:t>
            </a:r>
          </a:p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Local Use Only 'Stellavising'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Enables communities to upload local quarterly datasets into Stella P to model Days Homeless, Exit Velocity, and Returns before official submission.</a:t>
            </a:r>
          </a:p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Solving the Missing Documentation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ANW Foundations authored and published the Community Stella P Quick Start Guide, resolving HUD's unavailable documentation bottleneck.</a:t>
            </a:r>
          </a:p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Predictive System Harmony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Transforms chaotic street-level crisis data into balanced housing pathways that maximize federal merit scoring.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4B8A6"/>
                </a:solidFill>
              </a:defRPr>
            </a:pPr>
            <a:r>
              <a:t>COLLABORATIVE ACTION</a:t>
            </a:r>
          </a:p>
          <a:p>
            <a:pPr>
              <a:defRPr sz="2500" b="1">
                <a:solidFill>
                  <a:srgbClr val="F8FAFC"/>
                </a:solidFill>
              </a:defRPr>
            </a:pPr>
            <a:r>
              <a:t>A Voluntary Partnership for Missouri &amp; Illinois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18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4B8A6"/>
                </a:solidFill>
              </a:defRPr>
            </a:pPr>
            <a:r>
              <a:t>Our Voluntary Proposal to CoC Leadership: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1. Zero-Cost Open Source Infrastructure: We are not a corporate software vendor. We offer SPARC as an open-source tool to strengthen local Missouri and Metro East capacity.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2. Pilot Testing via Eva &amp; Local Use LSA: Run a test cohort through the Eva validation platform and Stellavise a local use file without touching live federal submissions.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3. Co-Designing the 2026 Competitive Strategy: Utilize SPARC's transitional recovery tracking to construct high-scoring merit applications for the $1.3B new project set-aside.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4. Institutionalizing Lived Experience: Establish a model of genuine, compensated PLEE collaboration that bridges encampment realities with systems design.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Contact: Ashleigh Walker | ANW Foundations | Belleville, IL / St. Louis, 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SPARC Platform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HMIS Export Validation &amp; Coordinated Entry Optimization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HUD + ANW Foundations – Shared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latin typeface="Open Sans"/>
              </a:defRPr>
            </a:pPr>
            <a:r>
              <a:t>Housing First: Immediate access to permanent housing without preconditions, mandatory sobriety, or service compliance requirements.</a:t>
            </a:r>
          </a:p>
          <a:p>
            <a:pPr>
              <a:defRPr sz="1400">
                <a:latin typeface="Open Sans"/>
              </a:defRPr>
            </a:pPr>
            <a:r>
              <a:t>Trauma-Informed Care: Participant choice, physical and emotional safety, transparent governance, and voluntary supportive care.</a:t>
            </a:r>
          </a:p>
          <a:p>
            <a:pPr>
              <a:defRPr sz="1400">
                <a:latin typeface="Open Sans"/>
              </a:defRPr>
            </a:pPr>
            <a:r>
              <a:t>Cryptographic Integrity: Immutable SHA-256 hashing of HMIS records for privacy preservation and verified provider outcome tracking.</a:t>
            </a:r>
          </a:p>
          <a:p>
            <a:pPr>
              <a:defRPr sz="1400">
                <a:latin typeface="Open Sans"/>
              </a:defRPr>
            </a:pPr>
            <a:r>
              <a:t>Community Partnership: Direct collaboration with CoC leadership, HUD Exchange guidance, and local service providers.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Milestone Timeline – Policy &amp; Project</a:t>
            </a:r>
          </a:p>
        </p:txBody>
      </p:sp>
      <p:pic>
        <p:nvPicPr>
          <p:cNvPr id="4" name="Picture 3" descr="hud_timeline_17898595243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0829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Trauma-Informed Care Support Logic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latin typeface="Open Sans"/>
              </a:defRPr>
            </a:pPr>
            <a:r>
              <a:t>Immediate Triage &amp; Engagement: Low-barrier intake focused on participant safety and immediate shelter/housing needs.</a:t>
            </a:r>
          </a:p>
          <a:p>
            <a:pPr>
              <a:defRPr sz="1400">
                <a:latin typeface="Open Sans"/>
              </a:defRPr>
            </a:pPr>
            <a:r>
              <a:t>Participant-Driven Housing Plan: Voluntary goal setting, safety planning, and community resource connections.</a:t>
            </a:r>
          </a:p>
          <a:p>
            <a:pPr>
              <a:defRPr sz="1400">
                <a:latin typeface="Open Sans"/>
              </a:defRPr>
            </a:pPr>
            <a:r>
              <a:t>Integrated Community Referrals: Warm handoffs to voluntary health, mental health, and employment services.</a:t>
            </a:r>
          </a:p>
          <a:p>
            <a:pPr>
              <a:defRPr sz="1400">
                <a:latin typeface="Open Sans"/>
              </a:defRPr>
            </a:pPr>
            <a:r>
              <a:t>Housing Retention Support: Ongoing check-ins to prevent returns to homelessness and maintain lease stability.</a:t>
            </a:r>
          </a:p>
          <a:p>
            <a:pPr>
              <a:defRPr sz="1400">
                <a:latin typeface="Open Sans"/>
              </a:defRPr>
            </a:pPr>
            <a:r>
              <a:t>Cryptographic Audit Trail: Each engagement milestone is hashed locally to ensure HMIS data integrity without exposing PII.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Housing-First Service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latin typeface="Open Sans"/>
              </a:defRPr>
            </a:pPr>
            <a:r>
              <a:t>Coordinated Entry Assessment: Standardized prioritization based on vulnerability and length of homelessness (UDE 4.19).</a:t>
            </a:r>
          </a:p>
          <a:p>
            <a:pPr>
              <a:defRPr sz="1400">
                <a:latin typeface="Open Sans"/>
              </a:defRPr>
            </a:pPr>
            <a:r>
              <a:t>Direct Permanent Placement: Rapid Re-Housing (RRH) or Permanent Supportive Housing (PSH) identification without preconditions.</a:t>
            </a:r>
          </a:p>
          <a:p>
            <a:pPr>
              <a:defRPr sz="1400">
                <a:latin typeface="Open Sans"/>
              </a:defRPr>
            </a:pPr>
            <a:r>
              <a:t>Subsidy &amp; Unit Administration: Streamlined rental assistance processing and landlord relationship management.</a:t>
            </a:r>
          </a:p>
          <a:p>
            <a:pPr>
              <a:defRPr sz="1400">
                <a:latin typeface="Open Sans"/>
              </a:defRPr>
            </a:pPr>
            <a:r>
              <a:t>Destination &amp; Retention Verification: Automated tracking of successful exits to permanent housing destinations (UDE 3.12).</a:t>
            </a:r>
          </a:p>
          <a:p>
            <a:pPr>
              <a:defRPr sz="1400">
                <a:latin typeface="Open Sans"/>
              </a:defRPr>
            </a:pPr>
            <a:r>
              <a:t>Automated Validation: Eva checks record structure, while Stella policy routing optimizes regional housing resource allocation.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Data-Intelligence Loop</a:t>
            </a:r>
          </a:p>
        </p:txBody>
      </p:sp>
      <p:pic>
        <p:nvPicPr>
          <p:cNvPr id="4" name="Picture 3" descr="data_intelligence_loo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6931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 Overview</a:t>
            </a:r>
          </a:p>
        </p:txBody>
      </p:sp>
      <p:pic>
        <p:nvPicPr>
          <p:cNvPr id="4" name="Picture 3" descr="sparc_unforgettable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0946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Impact Snapshot (FY-2026)</a:t>
            </a:r>
          </a:p>
        </p:txBody>
      </p:sp>
      <p:pic>
        <p:nvPicPr>
          <p:cNvPr id="4" name="Picture 3" descr="data_intelligence_loo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69310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Call-to-Action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latin typeface="Open Sans"/>
              </a:defRPr>
            </a:pPr>
            <a:r>
              <a:t>Secure FY-2026 funding for continued provider outcome verification pilot.</a:t>
            </a:r>
          </a:p>
          <a:p>
            <a:pPr>
              <a:defRPr sz="1400">
                <a:latin typeface="Open Sans"/>
              </a:defRPr>
            </a:pPr>
            <a:r>
              <a:t>Scale Stella policy engine across regional HUD partners and CoC networks.</a:t>
            </a:r>
          </a:p>
          <a:p>
            <a:pPr>
              <a:defRPr sz="1400">
                <a:latin typeface="Open Sans"/>
              </a:defRPr>
            </a:pPr>
            <a:r>
              <a:t>Launch public dashboard for real-time homelessness metrics and SPM reporting.</a:t>
            </a:r>
          </a:p>
          <a:p>
            <a:pPr>
              <a:defRPr sz="1400">
                <a:latin typeface="Open Sans"/>
              </a:defRPr>
            </a:pPr>
            <a:r>
              <a:t>Deepen integration with ANW Foundations community services and regional care providers.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latin typeface="Open Sans"/>
              </a:defRPr>
            </a:pPr>
            <a:r>
              <a:t>Ashleigh Walker – Web Development &amp; Creative Software Engineering</a:t>
            </a:r>
          </a:p>
          <a:p>
            <a:pPr>
              <a:defRPr sz="1400">
                <a:latin typeface="Open Sans"/>
              </a:defRPr>
            </a:pPr>
            <a:r>
              <a:t>Email: ashleigh4533@gmail.com</a:t>
            </a:r>
          </a:p>
          <a:p>
            <a:pPr>
              <a:defRPr sz="1400">
                <a:latin typeface="Open Sans"/>
              </a:defRPr>
            </a:pPr>
            <a:r>
              <a:t>QR: (link to Levity token dashboard)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